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8" r:id="rId11"/>
    <p:sldId id="263" r:id="rId12"/>
    <p:sldId id="264" r:id="rId13"/>
    <p:sldId id="265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latypi Medium" panose="020B0604020202020204" charset="0"/>
      <p:regular r:id="rId20"/>
    </p:embeddedFont>
    <p:embeddedFont>
      <p:font typeface="Source Serif 4" panose="020B0604020202020204" charset="0"/>
      <p:regular r:id="rId21"/>
    </p:embeddedFont>
    <p:embeddedFont>
      <p:font typeface="Source Serif 4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52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849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Superstore Sales Analysis using Excel and Power BI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5560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ApexPlanet Internship Task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766441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6822" y="1951211"/>
            <a:ext cx="4103191" cy="1945630"/>
          </a:xfrm>
          <a:prstGeom prst="roundRect">
            <a:avLst>
              <a:gd name="adj" fmla="val 956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75185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393007"/>
            <a:ext cx="38552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Eddula Venkateswarlu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530796" y="3586758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Analytics Intern · ApexPlanet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07518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Presentation Scope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393007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problem definition and objectives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Dataset overview and tool stack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End-to-end project workflow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Power BI dashboard and KPI analysis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insights and strategic recommendations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4036368"/>
            <a:ext cx="3331890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33" y="4073575"/>
            <a:ext cx="364026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EXCEL · POWER BI · BUSINESS INTELLIGENCE · RETAIL ANALYTICS</a:t>
            </a:r>
            <a:endParaRPr lang="en-US" sz="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46C70-92BB-4354-90E3-874E1C081165}"/>
              </a:ext>
            </a:extLst>
          </p:cNvPr>
          <p:cNvSpPr/>
          <p:nvPr/>
        </p:nvSpPr>
        <p:spPr>
          <a:xfrm>
            <a:off x="7988595" y="4841470"/>
            <a:ext cx="1155405" cy="316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675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10543"/>
            <a:ext cx="435575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&amp;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301204"/>
            <a:ext cx="435575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Data Overload: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Businesses generate massive volumes of sales data daily — without structured analysis, patterns and opportunities remain hidden beneath the noise. Raw transactional records alone cannot drive strategy.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1950913"/>
            <a:ext cx="435575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241575"/>
            <a:ext cx="435575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sales performance across </a:t>
            </a:r>
            <a:r>
              <a:rPr lang="en-US" sz="900" b="1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categories, regions, and time periods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surface actionable insights that enable data-driven decision-making and improve profitability.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2891284"/>
            <a:ext cx="435575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Analytical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181945"/>
            <a:ext cx="435575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Leverage </a:t>
            </a: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Microsoft Excel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data cleaning and validation, and </a:t>
            </a: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Power BI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interactive dashboard creation and business intelligence reporting — combining the strengths of both tools in a structured pipeline.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0300" y="1010543"/>
            <a:ext cx="351226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Business Questions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0300" y="1314822"/>
            <a:ext cx="3512269" cy="7319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27972" y="1445344"/>
            <a:ext cx="319407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Revenue Drivers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27972" y="1736006"/>
            <a:ext cx="319407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Which categories and products drive the most revenue?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0300" y="2155775"/>
            <a:ext cx="3512269" cy="7319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7972" y="2286298"/>
            <a:ext cx="319407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Regional Gaps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27972" y="2576959"/>
            <a:ext cx="319407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are the regional performance disparities?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0300" y="2996729"/>
            <a:ext cx="3512269" cy="7319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7972" y="3127251"/>
            <a:ext cx="319407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Trend Patterns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327972" y="3417912"/>
            <a:ext cx="319407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do sales trends shift month over month?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140300" y="3851300"/>
            <a:ext cx="3512269" cy="794891"/>
          </a:xfrm>
          <a:prstGeom prst="roundRect">
            <a:avLst>
              <a:gd name="adj" fmla="val 2195"/>
            </a:avLst>
          </a:prstGeom>
          <a:solidFill>
            <a:srgbClr val="F3E3D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535" y="4023420"/>
            <a:ext cx="145331" cy="1162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18100" y="3978399"/>
            <a:ext cx="3018234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Outcome: Enable data-driven decisions to improve profitability, optimize inventory, and guide strategic planning.</a:t>
            </a:r>
            <a:endParaRPr lang="en-US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51C347-F5E2-4FDA-8CBC-E63D72C5E3B0}"/>
              </a:ext>
            </a:extLst>
          </p:cNvPr>
          <p:cNvSpPr/>
          <p:nvPr/>
        </p:nvSpPr>
        <p:spPr>
          <a:xfrm>
            <a:off x="7907079" y="4754117"/>
            <a:ext cx="1155405" cy="316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34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192932"/>
            <a:ext cx="3257699" cy="3331146"/>
          </a:xfrm>
          <a:prstGeom prst="roundRect">
            <a:avLst>
              <a:gd name="adj" fmla="val 571"/>
            </a:avLst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316906"/>
            <a:ext cx="300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&amp;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634728"/>
            <a:ext cx="3009751" cy="2716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Dataset:</a:t>
            </a: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Superstore Orders — a widely used retail sales dataset simulating real-world business transactions across multiple years, regions, and product hierarchies.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Microsoft Excel:</a:t>
            </a: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Data cleaning, validation, pivot analysis, and summary statistics.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Power BI Desktop:</a:t>
            </a: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Interactive dashboards, DAX measures, and visual business intelligence reporting.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Scope:</a:t>
            </a: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Multi-year transactional data spanning four regions, three product categories, and multiple customer segments.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82554" y="1316906"/>
            <a:ext cx="4770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Columns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82554" y="1650281"/>
            <a:ext cx="4770016" cy="2734270"/>
          </a:xfrm>
          <a:prstGeom prst="roundRect">
            <a:avLst>
              <a:gd name="adj" fmla="val 68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2554" y="2014240"/>
            <a:ext cx="4770016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882554" y="2375818"/>
            <a:ext cx="4770016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82554" y="2737396"/>
            <a:ext cx="4770016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882554" y="3098974"/>
            <a:ext cx="4770016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82554" y="3659014"/>
            <a:ext cx="4770016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82554" y="4020592"/>
            <a:ext cx="4770016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011364" y="1734220"/>
            <a:ext cx="18753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Field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77495" y="1734220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Purpose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11364" y="2095798"/>
            <a:ext cx="18753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Order 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77495" y="2095798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Unique transaction identifier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11364" y="2457376"/>
            <a:ext cx="18753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Order Date / Ship Date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77495" y="2457376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Time-series and fulfillment analysis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11364" y="2818954"/>
            <a:ext cx="18753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77495" y="2818954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Segment-level profiling and behavior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11364" y="3180531"/>
            <a:ext cx="14181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Category / Sub-Category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77495" y="3180531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 hierarchy and revenue attribution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11364" y="3740572"/>
            <a:ext cx="18753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77495" y="3740572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Geographic performance benchmarking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11364" y="4102150"/>
            <a:ext cx="18753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 / Profit / Quantity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77495" y="4102150"/>
            <a:ext cx="33035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Core financial KPIs and margin analysis</a:t>
            </a:r>
            <a:endParaRPr lang="en-US" sz="9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F40C3C-3587-4C2D-9FD8-ECF82ADDFC30}"/>
              </a:ext>
            </a:extLst>
          </p:cNvPr>
          <p:cNvSpPr/>
          <p:nvPr/>
        </p:nvSpPr>
        <p:spPr>
          <a:xfrm>
            <a:off x="7534940" y="4767395"/>
            <a:ext cx="1609060" cy="344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4388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Workflow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39180"/>
            <a:ext cx="8151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structured, seven-stage analytical pipeline was followed — from raw data ingestion through to stakeholder-ready recommendations — ensuring rigor, reproducibility, and business relevance at every step.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50107"/>
            <a:ext cx="118170" cy="1181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1621929"/>
            <a:ext cx="2642146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709589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1961852"/>
            <a:ext cx="2642146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Sourced Superstore Orders dataset; verified completeness and field definitions before analysis.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0927" y="1450107"/>
            <a:ext cx="118170" cy="11817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50927" y="1621929"/>
            <a:ext cx="2642146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6"/>
          <p:cNvSpPr/>
          <p:nvPr/>
        </p:nvSpPr>
        <p:spPr>
          <a:xfrm>
            <a:off x="3250927" y="1709589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250927" y="1961852"/>
            <a:ext cx="264214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Removed duplicates, handled null values, and standardized date formats in Microsoft Excel.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5736" y="1450107"/>
            <a:ext cx="118170" cy="11817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05736" y="1621929"/>
            <a:ext cx="2642146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9"/>
          <p:cNvSpPr/>
          <p:nvPr/>
        </p:nvSpPr>
        <p:spPr>
          <a:xfrm>
            <a:off x="6005736" y="1709589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Validation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005736" y="1961852"/>
            <a:ext cx="2642146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Cross-checked totals, validated category mappings, and ensured referential integrity across all fields.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732038"/>
            <a:ext cx="118170" cy="11817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6119" y="2903860"/>
            <a:ext cx="2642146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2"/>
          <p:cNvSpPr/>
          <p:nvPr/>
        </p:nvSpPr>
        <p:spPr>
          <a:xfrm>
            <a:off x="496119" y="2991520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96119" y="3243783"/>
            <a:ext cx="2642146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Pivot tables, summary statistics, and trend identification conducted in Excel to surface initial patterns.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0927" y="2732038"/>
            <a:ext cx="118170" cy="11817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50927" y="2903860"/>
            <a:ext cx="2642146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2" name="Text 15"/>
          <p:cNvSpPr/>
          <p:nvPr/>
        </p:nvSpPr>
        <p:spPr>
          <a:xfrm>
            <a:off x="3250927" y="2991520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Dashboard Creation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250927" y="3243783"/>
            <a:ext cx="2642146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interactive Power BI dashboards with slicers, KPI cards, and drill-through visuals for stakeholders.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05736" y="2732038"/>
            <a:ext cx="118170" cy="11817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05736" y="2903860"/>
            <a:ext cx="2642146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6" name="Text 18"/>
          <p:cNvSpPr/>
          <p:nvPr/>
        </p:nvSpPr>
        <p:spPr>
          <a:xfrm>
            <a:off x="6005736" y="2991520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005736" y="3243783"/>
            <a:ext cx="2642146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Interpreted visual outputs to identify top performers, seasonal patterns, and regional performance gaps.</a:t>
            </a:r>
            <a:endParaRPr lang="en-US" sz="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6119" y="4013969"/>
            <a:ext cx="118170" cy="11817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96119" y="4185791"/>
            <a:ext cx="8151763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30" name="Text 21"/>
          <p:cNvSpPr/>
          <p:nvPr/>
        </p:nvSpPr>
        <p:spPr>
          <a:xfrm>
            <a:off x="496119" y="4273451"/>
            <a:ext cx="8151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496119" y="4525714"/>
            <a:ext cx="8151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Formulated strategic actions based on data findings for presentation to business stakeholders.</a:t>
            </a:r>
            <a:endParaRPr lang="en-US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252409-F757-4E1A-9BC3-C2016A1FA241}"/>
              </a:ext>
            </a:extLst>
          </p:cNvPr>
          <p:cNvSpPr/>
          <p:nvPr/>
        </p:nvSpPr>
        <p:spPr>
          <a:xfrm>
            <a:off x="7470744" y="4710410"/>
            <a:ext cx="1609060" cy="40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868BE5-FBF7-4E01-8274-C08106359DC5}"/>
              </a:ext>
            </a:extLst>
          </p:cNvPr>
          <p:cNvSpPr/>
          <p:nvPr/>
        </p:nvSpPr>
        <p:spPr>
          <a:xfrm>
            <a:off x="5617135" y="4120590"/>
            <a:ext cx="1609060" cy="40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5465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Dashboard Overview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7984" y="867073"/>
            <a:ext cx="2837259" cy="3890963"/>
          </a:xfrm>
          <a:prstGeom prst="roundRect">
            <a:avLst>
              <a:gd name="adj" fmla="val 574"/>
            </a:avLst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526479" y="962025"/>
            <a:ext cx="262026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Performance Indicators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6479" y="1238324"/>
            <a:ext cx="2620268" cy="969913"/>
          </a:xfrm>
          <a:prstGeom prst="roundRect">
            <a:avLst>
              <a:gd name="adj" fmla="val 1679"/>
            </a:avLst>
          </a:prstGeom>
          <a:solidFill>
            <a:srgbClr val="988A81"/>
          </a:solidFill>
          <a:ln/>
        </p:spPr>
      </p:sp>
      <p:sp>
        <p:nvSpPr>
          <p:cNvPr id="6" name="Text 4"/>
          <p:cNvSpPr/>
          <p:nvPr/>
        </p:nvSpPr>
        <p:spPr>
          <a:xfrm>
            <a:off x="634975" y="1346820"/>
            <a:ext cx="24032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4975" y="1611288"/>
            <a:ext cx="2403277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Aggregate revenue across all orders and regions — primary top-line performance metric.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26479" y="2303190"/>
            <a:ext cx="2620268" cy="807095"/>
          </a:xfrm>
          <a:prstGeom prst="roundRect">
            <a:avLst>
              <a:gd name="adj" fmla="val 2017"/>
            </a:avLst>
          </a:prstGeom>
          <a:solidFill>
            <a:srgbClr val="988A81"/>
          </a:solidFill>
          <a:ln/>
        </p:spPr>
      </p:sp>
      <p:sp>
        <p:nvSpPr>
          <p:cNvPr id="9" name="Text 7"/>
          <p:cNvSpPr/>
          <p:nvPr/>
        </p:nvSpPr>
        <p:spPr>
          <a:xfrm>
            <a:off x="634975" y="2411685"/>
            <a:ext cx="24032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Average Sales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4975" y="2676153"/>
            <a:ext cx="240327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Mean transaction value used to benchmark order performance and identify outliers.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6479" y="3205237"/>
            <a:ext cx="2620268" cy="969913"/>
          </a:xfrm>
          <a:prstGeom prst="roundRect">
            <a:avLst>
              <a:gd name="adj" fmla="val 1679"/>
            </a:avLst>
          </a:prstGeom>
          <a:solidFill>
            <a:srgbClr val="988A81"/>
          </a:solidFill>
          <a:ln/>
        </p:spPr>
      </p:sp>
      <p:sp>
        <p:nvSpPr>
          <p:cNvPr id="12" name="Text 10"/>
          <p:cNvSpPr/>
          <p:nvPr/>
        </p:nvSpPr>
        <p:spPr>
          <a:xfrm>
            <a:off x="634975" y="3313733"/>
            <a:ext cx="24032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4975" y="3578200"/>
            <a:ext cx="2403277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Volume of transactions processed across the full dataset — measures business activity scale.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6479" y="4281934"/>
            <a:ext cx="2620268" cy="390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Power BI dashboard provides an interactive, single-pane view of all KPIs with dynamic filtering by region, category, and time period.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446636" y="962025"/>
            <a:ext cx="520593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Power BI Dashboard — Interactive View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9419" y="1361108"/>
            <a:ext cx="4960367" cy="183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9419" y="1639863"/>
            <a:ext cx="4960367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46636" y="2703761"/>
            <a:ext cx="3402657" cy="164902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1B15B1-0B96-49F0-A36D-3D26C55F785E}"/>
              </a:ext>
            </a:extLst>
          </p:cNvPr>
          <p:cNvSpPr/>
          <p:nvPr/>
        </p:nvSpPr>
        <p:spPr>
          <a:xfrm>
            <a:off x="7477831" y="4672608"/>
            <a:ext cx="1609060" cy="40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8DC02CB-6644-496B-A829-D5E3A685AB91}"/>
              </a:ext>
            </a:extLst>
          </p:cNvPr>
          <p:cNvSpPr/>
          <p:nvPr/>
        </p:nvSpPr>
        <p:spPr>
          <a:xfrm>
            <a:off x="3338140" y="2128317"/>
            <a:ext cx="4960367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endParaRPr lang="en-US" sz="6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9166CB4-D6F7-4469-9884-5D49A4A36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635" y="1238324"/>
            <a:ext cx="5477231" cy="34342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3839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Sales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62099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core analytical views were constructed in Power BI to answer the primary business questions — each chart targets a distinct dimension of sales performance.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587847"/>
            <a:ext cx="3929286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Sales by Category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20776"/>
            <a:ext cx="3929286" cy="836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7660" y="2055168"/>
            <a:ext cx="3603352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Technology · Furniture · Office Supplies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Compare revenue contribution and profit margins across the three main product categories. Technology expected to lead.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6119" y="2888159"/>
            <a:ext cx="3929286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Monthly Sales Trend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21087"/>
            <a:ext cx="3929286" cy="836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7660" y="3355479"/>
            <a:ext cx="3603352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Time-series line chart revealing </a:t>
            </a: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seasonal peaks, demand cycles, and year-over-year growth patterns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Q4 peaks and Q1 dips are key signals to monitor.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23358" y="1587847"/>
            <a:ext cx="3929286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Top 10 Products by Sales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3358" y="1920776"/>
            <a:ext cx="3929286" cy="8364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4900" y="2055168"/>
            <a:ext cx="3603352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Ranked by total sales value — identifies </a:t>
            </a: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high-revenue SKUs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that drive a disproportionate share of income. Classic Pareto (80/20) distribution observed across the product catalog.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723358" y="2888159"/>
            <a:ext cx="3929286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🗺️</a:t>
            </a: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Sales by Region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3358" y="3221087"/>
            <a:ext cx="3929286" cy="8364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4900" y="3355479"/>
            <a:ext cx="3603352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Geographic breakdown across </a:t>
            </a: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East, West, Central, and South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highlights underperforming markets and surfaces regional growth opportunities for targeted investment.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86495" y="4465737"/>
            <a:ext cx="809848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endParaRPr lang="en-US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528BC-1B56-4CA8-A97A-E38F09E1E619}"/>
              </a:ext>
            </a:extLst>
          </p:cNvPr>
          <p:cNvSpPr/>
          <p:nvPr/>
        </p:nvSpPr>
        <p:spPr>
          <a:xfrm>
            <a:off x="7747590" y="4812843"/>
            <a:ext cx="1396409" cy="339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DD08C-8111-4F36-B5C7-34222C75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5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F404B-1D07-4CC1-8040-C28D18C31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2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808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2365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high-confidence insights derived from Power BI visual analysis and Excel pivot exploration — each directly actionable for business strategy.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60103"/>
            <a:ext cx="2634555" cy="1508522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178407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Leads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052340"/>
            <a:ext cx="238660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Technology generates the highest total sales, outperforming Furniture and Office Supplies — driven by high-value items such as phones, machines, and copiers with strong unit economics.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1660103"/>
            <a:ext cx="2634630" cy="1508522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3378622" y="1784077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Pareto Effect in Products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8622" y="2052340"/>
            <a:ext cx="23866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small number of SKUs (top 10–20 products) contribute a disproportionately large share of total revenue — classic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80/20 distribution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confirmed across the product catalog.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1660103"/>
            <a:ext cx="2634555" cy="1508522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6137225" y="178407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Seasonal Demand Cycles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7225" y="2052340"/>
            <a:ext cx="238660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Monthly sales exhibit clear cyclical patterns —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peaks in Q4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(holiday/year-end purchasing) and dips in Q1, indicating predictable seasonal demand sensitivity.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6119" y="343212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Consumer Segment Profitability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119" y="3749948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</a:t>
            </a:r>
            <a:r>
              <a:rPr lang="en-US" sz="950" b="1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Consumer segment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contributes the highest profit margin compared to Corporate and Home Office segments — a key target for retention, upsell, and cross-sell strategies. Segment-specific campaigns can amplify this advantage.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8046" y="343212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Regional Sales Disparity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8046" y="3749948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Significant variation exists across the four regions — </a:t>
            </a:r>
            <a:r>
              <a:rPr lang="en-US" sz="950" b="1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West and East outperform Central and South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suggesting untapped market potential in lower-performing geographies. Targeted investment in these regions represents a clear growth lever.</a:t>
            </a:r>
            <a:endParaRPr lang="en-US" sz="9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FD429B-63E9-4DA1-91C9-9F71B8D31DE1}"/>
              </a:ext>
            </a:extLst>
          </p:cNvPr>
          <p:cNvSpPr/>
          <p:nvPr/>
        </p:nvSpPr>
        <p:spPr>
          <a:xfrm>
            <a:off x="7534940" y="4669595"/>
            <a:ext cx="1609060" cy="4880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32BC0-BB31-4C58-81CE-20E73166E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5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6696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Statistical Validation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868710"/>
            <a:ext cx="81517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197099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Validate whether observed sales patterns are statistically meaningful and not the result of random variation — ensuring insights are reliable and defensible for business decision-making at the stakeholder level.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237" y="1772655"/>
            <a:ext cx="168622" cy="168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1417" y="1769194"/>
            <a:ext cx="35734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Descriptive Statistics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1417" y="2046684"/>
            <a:ext cx="3573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Mean, median, standard deviation, and range computed for </a:t>
            </a: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Sales, Profit, and Quantity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establishes baseline distribution and identifies statistical outliers that may skew aggregate metrics.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237" y="2768240"/>
            <a:ext cx="168622" cy="1686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1417" y="2764780"/>
            <a:ext cx="35734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1417" y="3042270"/>
            <a:ext cx="3573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Moving averages and period-over-period comparisons applied to monthly sales data to </a:t>
            </a: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confirm directional trends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filter short-term noise from the signal.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237" y="3763826"/>
            <a:ext cx="168622" cy="1686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1417" y="3760366"/>
            <a:ext cx="35734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Category Comparison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61417" y="4037856"/>
            <a:ext cx="3573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Cross-category performance benchmarked using aggregated metrics — </a:t>
            </a: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validates Technology's dominance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quantitative evidence rather than visual inference alone.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6026" y="1772655"/>
            <a:ext cx="168622" cy="1686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9206" y="1769194"/>
            <a:ext cx="35734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079206" y="2046684"/>
            <a:ext cx="3573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Charts and graphs used to visually confirm statistical findings — </a:t>
            </a: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histograms, scatter plots, and bar charts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support pattern recognition and communicate findings to non-technical stakeholders.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6026" y="2939690"/>
            <a:ext cx="168622" cy="1686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9206" y="2936230"/>
            <a:ext cx="35734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Intelligence via DAX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079206" y="3213720"/>
            <a:ext cx="3573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Power BI </a:t>
            </a: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DAX measures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used to compute dynamic KPIs — ensuring calculations are consistent, reproducible, and audit-ready across all dashboard views and filter states.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713908" y="3842668"/>
            <a:ext cx="3938736" cy="582364"/>
          </a:xfrm>
          <a:prstGeom prst="roundRect">
            <a:avLst>
              <a:gd name="adj" fmla="val 2896"/>
            </a:avLst>
          </a:prstGeom>
          <a:solidFill>
            <a:srgbClr val="F3E3D8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273" y="4008537"/>
            <a:ext cx="140494" cy="11236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79132" y="3962400"/>
            <a:ext cx="34611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Statistical rigor ensures that business recommendations are grounded in evidence — not coincidence or visual bias.</a:t>
            </a:r>
            <a:endParaRPr lang="en-US" sz="8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8B9159-3342-4E54-A291-2E70F9FD30C4}"/>
              </a:ext>
            </a:extLst>
          </p:cNvPr>
          <p:cNvSpPr/>
          <p:nvPr/>
        </p:nvSpPr>
        <p:spPr>
          <a:xfrm>
            <a:off x="7534940" y="4750440"/>
            <a:ext cx="1609060" cy="40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7577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Recommendations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45728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strategic recommendations derived directly from data findings — each mapped to a specific insight and designed for immediate implementation by business stakeholders.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415951"/>
            <a:ext cx="2646983" cy="1798141"/>
          </a:xfrm>
          <a:prstGeom prst="roundRect">
            <a:avLst>
              <a:gd name="adj" fmla="val 954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10419" y="1530251"/>
            <a:ext cx="343049" cy="343049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776" y="1624533"/>
            <a:ext cx="154335" cy="1543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0419" y="1978670"/>
            <a:ext cx="241838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Optimize Inventory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0419" y="2220590"/>
            <a:ext cx="2418383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Increase stock levels for high-performing Technology products. Reduce carrying costs for low-velocity SKUs in underperforming sub-categories to free working capital.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8471" y="1415951"/>
            <a:ext cx="2646983" cy="1798141"/>
          </a:xfrm>
          <a:prstGeom prst="roundRect">
            <a:avLst>
              <a:gd name="adj" fmla="val 954"/>
            </a:avLst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3362771" y="1530251"/>
            <a:ext cx="343049" cy="343049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7129" y="1624533"/>
            <a:ext cx="154335" cy="1543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2771" y="1978670"/>
            <a:ext cx="241838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Regional Growth Strategy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62771" y="2220590"/>
            <a:ext cx="2418383" cy="879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targeted sales initiatives in Central and South regions. Allocate additional marketing budget and sales resources to close the performance gap with East and West.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00824" y="1415951"/>
            <a:ext cx="2647057" cy="1798141"/>
          </a:xfrm>
          <a:prstGeom prst="roundRect">
            <a:avLst>
              <a:gd name="adj" fmla="val 954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115124" y="1530251"/>
            <a:ext cx="343049" cy="343049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9481" y="1624533"/>
            <a:ext cx="154335" cy="1543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15124" y="1978670"/>
            <a:ext cx="241845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Category-Focused Marketing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15124" y="2220590"/>
            <a:ext cx="2418457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Concentrate campaigns on Technology and high-margin Office Supplies. Leverage Consumer segment loyalty for structured upsell and cross-sell programs.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96119" y="3319463"/>
            <a:ext cx="4023196" cy="1446461"/>
          </a:xfrm>
          <a:prstGeom prst="roundRect">
            <a:avLst>
              <a:gd name="adj" fmla="val 1186"/>
            </a:avLst>
          </a:prstGeom>
          <a:solidFill>
            <a:srgbClr val="F9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10419" y="3433762"/>
            <a:ext cx="343049" cy="343049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776" y="3528045"/>
            <a:ext cx="154335" cy="1543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0419" y="3882182"/>
            <a:ext cx="37945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Seasonal Planning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10419" y="4124102"/>
            <a:ext cx="3794596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Align procurement and promotional calendars with identified demand peaks. Prepare Q4 inventory buffers and Q1 demand stimulation campaigns to smooth revenue cycles.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624685" y="3319463"/>
            <a:ext cx="4023196" cy="1446461"/>
          </a:xfrm>
          <a:prstGeom prst="roundRect">
            <a:avLst>
              <a:gd name="adj" fmla="val 1186"/>
            </a:avLst>
          </a:prstGeom>
          <a:solidFill>
            <a:srgbClr val="F9F7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738985" y="3433762"/>
            <a:ext cx="343049" cy="343049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3342" y="3528045"/>
            <a:ext cx="154335" cy="1543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38985" y="3882182"/>
            <a:ext cx="37945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Continuous Monitoring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738985" y="4124102"/>
            <a:ext cx="3794596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Embed Power BI dashboards into monthly business reviews. Establish KPI thresholds and automated alerts for sales anomalies and trend deviations.</a:t>
            </a: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B77CAE-E40F-4E9F-AD7E-6C320A0F9AFB}"/>
              </a:ext>
            </a:extLst>
          </p:cNvPr>
          <p:cNvSpPr/>
          <p:nvPr/>
        </p:nvSpPr>
        <p:spPr>
          <a:xfrm>
            <a:off x="7511603" y="4873408"/>
            <a:ext cx="1609060" cy="2700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6089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82042"/>
            <a:ext cx="478132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 of Findings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272257"/>
            <a:ext cx="4781327" cy="3380482"/>
          </a:xfrm>
          <a:prstGeom prst="roundRect">
            <a:avLst>
              <a:gd name="adj" fmla="val 499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272257"/>
            <a:ext cx="4781327" cy="84512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608484" y="1384622"/>
            <a:ext cx="455659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Drives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8484" y="1662113"/>
            <a:ext cx="4556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Highest sales contribution across all categories — a clear priority for inventory and marketing investment.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6119" y="2117378"/>
            <a:ext cx="4781327" cy="84512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117378"/>
            <a:ext cx="4781327" cy="14288"/>
          </a:xfrm>
          <a:prstGeom prst="roundRect">
            <a:avLst>
              <a:gd name="adj" fmla="val 118019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08484" y="2229743"/>
            <a:ext cx="455659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Consumer Segment Leads Profitability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484" y="2507233"/>
            <a:ext cx="4556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Highest margin segment — targeted retention and upsell strategies will maximize lifetime value.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2962498"/>
            <a:ext cx="4781327" cy="84512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2962498"/>
            <a:ext cx="4781327" cy="14288"/>
          </a:xfrm>
          <a:prstGeom prst="roundRect">
            <a:avLst>
              <a:gd name="adj" fmla="val 11801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608484" y="3074863"/>
            <a:ext cx="455659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Seasonal Patterns Are Predictable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484" y="3352354"/>
            <a:ext cx="4556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Q4 peaks and Q1 dips are consistent — enabling proactive procurement and promotional planning.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6119" y="3807619"/>
            <a:ext cx="4781327" cy="84512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96119" y="3807619"/>
            <a:ext cx="4781327" cy="14288"/>
          </a:xfrm>
          <a:prstGeom prst="roundRect">
            <a:avLst>
              <a:gd name="adj" fmla="val 118019"/>
            </a:avLst>
          </a:prstGeom>
          <a:solidFill>
            <a:srgbClr val="D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08484" y="3919984"/>
            <a:ext cx="455659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Regional Gaps = Growth Opportunities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484" y="4197474"/>
            <a:ext cx="4556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 and South underperformance represents addressable upside with targeted resource allocation.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75536" y="880170"/>
            <a:ext cx="3257996" cy="3887167"/>
          </a:xfrm>
          <a:prstGeom prst="roundRect">
            <a:avLst>
              <a:gd name="adj" fmla="val 518"/>
            </a:avLst>
          </a:prstGeom>
          <a:solidFill>
            <a:srgbClr val="3E2513"/>
          </a:solidFill>
          <a:ln/>
        </p:spPr>
      </p:sp>
      <p:sp>
        <p:nvSpPr>
          <p:cNvPr id="21" name="Text 19"/>
          <p:cNvSpPr/>
          <p:nvPr/>
        </p:nvSpPr>
        <p:spPr>
          <a:xfrm>
            <a:off x="5587901" y="982042"/>
            <a:ext cx="303326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Tool Value Delivered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87901" y="1259532"/>
            <a:ext cx="303326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Excel</a:t>
            </a:r>
            <a:r>
              <a:rPr lang="en-US" sz="8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enabled rigorous data preparation, cleaning, and validation — establishing a trustworthy analytical foundation.</a:t>
            </a:r>
            <a:endParaRPr lang="en-US" sz="8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Power BI</a:t>
            </a:r>
            <a:r>
              <a:rPr lang="en-US" sz="8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delivered interactive, stakeholder-ready dashboards that support ongoing, real-time decision-making beyond this project.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87901" y="2481783"/>
            <a:ext cx="303326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Broader 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7901" y="2759273"/>
            <a:ext cx="30332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Organizations that embed data visualization into their workflows consistently improve profitability, reduce operational inefficiencies, and respond faster to market changes.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87901" y="3587725"/>
            <a:ext cx="3033266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87901" y="3744664"/>
            <a:ext cx="303326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59301" y="4022154"/>
            <a:ext cx="34904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Questions Welcome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59301" y="4285283"/>
            <a:ext cx="3490466" cy="1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Eddula Venkateswarlu · ApexPlanet Internship Task 4</a:t>
            </a:r>
            <a:endParaRPr lang="en-US" sz="7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242A50-58DA-472D-BEBE-8D70F3428D88}"/>
              </a:ext>
            </a:extLst>
          </p:cNvPr>
          <p:cNvSpPr/>
          <p:nvPr/>
        </p:nvSpPr>
        <p:spPr>
          <a:xfrm>
            <a:off x="7470743" y="4854995"/>
            <a:ext cx="1609060" cy="286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1408</Words>
  <Application>Microsoft Office PowerPoint</Application>
  <PresentationFormat>On-screen Show (16:9)</PresentationFormat>
  <Paragraphs>150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Arial</vt:lpstr>
      <vt:lpstr>Twemoji Mozilla</vt:lpstr>
      <vt:lpstr>Platypi Medium</vt:lpstr>
      <vt:lpstr>Source Serif 4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HP-640-G3</dc:creator>
  <cp:lastModifiedBy>HP-640-G3</cp:lastModifiedBy>
  <cp:revision>4</cp:revision>
  <dcterms:created xsi:type="dcterms:W3CDTF">2026-07-20T13:39:36Z</dcterms:created>
  <dcterms:modified xsi:type="dcterms:W3CDTF">2026-07-20T14:10:10Z</dcterms:modified>
</cp:coreProperties>
</file>